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9" r:id="rId20"/>
    <p:sldId id="281" r:id="rId21"/>
    <p:sldId id="282" r:id="rId22"/>
    <p:sldId id="283" r:id="rId23"/>
    <p:sldId id="276" r:id="rId24"/>
    <p:sldId id="277" r:id="rId25"/>
    <p:sldId id="273" r:id="rId26"/>
    <p:sldId id="274" r:id="rId27"/>
    <p:sldId id="275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3581" autoAdjust="0"/>
  </p:normalViewPr>
  <p:slideViewPr>
    <p:cSldViewPr snapToGrid="0">
      <p:cViewPr varScale="1">
        <p:scale>
          <a:sx n="28" d="100"/>
          <a:sy n="28" d="100"/>
        </p:scale>
        <p:origin x="58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BE5C1-0612-4BAD-B62E-8715F2E779E1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185B8-F2C4-4EA5-A8B1-7EFD69AD3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321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안녕하십니까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오늘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'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세종시 스마트시티 교통안전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AI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인프라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'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프로젝트에 대해 발표하게 된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[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발표자명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]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본 프로젝트는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CCTV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기반 실시간 교통행동 분석을 통해 사고를 예방하는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AI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시스템입니다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세종시를 더 안전하고 스마트한 도시로 만들기 위한 혁신적인 접근법을 소개해드리겠습니다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492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세종시는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국가시범도시로서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 첨단 인프라를 갖추고 있지만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실제로는 여러 교통 문제에 직면해 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특히 </a:t>
            </a:r>
            <a:r>
              <a:rPr lang="ko-KR" altLang="en-US" b="1" i="0" dirty="0" err="1">
                <a:solidFill>
                  <a:srgbClr val="232425"/>
                </a:solidFill>
                <a:effectLst/>
                <a:latin typeface="Noto Sans SC"/>
              </a:rPr>
              <a:t>무신호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 교차로와 좌회전 구간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에서 시야 제한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급차선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 변경 등으로 인한 위험행동이 반복되고 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현재의 수동 모니터링 방식으로는 실시간 대응이 어렵고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객관적인 과실 판단 자료도 부족한 상황입니다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이에 우리는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AI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기술을 활용해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속도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1" i="0" dirty="0" err="1">
                <a:solidFill>
                  <a:srgbClr val="232425"/>
                </a:solidFill>
                <a:effectLst/>
                <a:latin typeface="Noto Sans SC"/>
              </a:rPr>
              <a:t>감속률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, TTC(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충돌까지의 시간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)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 같은 정량적 지표로 위험을 조기에 탐지하고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과실비율을 공정하게 산정하는 시스템을 개발하고자 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604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프로젝트는 단계별로 체계적으로 진행됩니다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1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분기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에는 요구사항 정의와 데이터 수집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·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라벨링을 진행하고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2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분기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에는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YOLOv11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과 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ByteTrack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모델을 학습시켜 현장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PoC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를 실시합니다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3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분기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에는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2~3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개 교차로에서 파일럿 테스트를 진행하며 대시보드와 경보 시스템을 연계합니다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4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분기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에는 성능을 고도화하고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ITS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시스템과 연동하여 전체 운영 체계를 완성합니다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핵심 성과지표로는 탐지 정확도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(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mAP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),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추적 성능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(IDF1/MOTA), TTC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오차율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처리 지연시간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그리고 시스템 가용성을 측정할 예정입니다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76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본 프로젝트는 검증된 최신 기술 스택으로 구성됩니다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AI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모델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로는 차량 탐지를 위한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YOLOv11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과 다중 객체 추적을 위한 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ByteTrack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을 사용합니다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영상 처리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OpenCV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NumPy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로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스트리밍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RTSP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와 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FFmpeg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로 구현하며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 err="1">
                <a:solidFill>
                  <a:srgbClr val="232425"/>
                </a:solidFill>
                <a:effectLst/>
                <a:latin typeface="Noto Sans SC"/>
              </a:rPr>
              <a:t>백엔드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는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Python 3.10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과 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FastAPI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를 기반으로 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시각화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Grafana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matplotlib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으로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인프라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NVIDIA GPU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Docker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를 활용하고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en-US" altLang="ko-KR" b="1" i="0" dirty="0" err="1">
                <a:solidFill>
                  <a:srgbClr val="232425"/>
                </a:solidFill>
                <a:effectLst/>
                <a:latin typeface="Noto Sans SC"/>
              </a:rPr>
              <a:t>MLOps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는 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MLflow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GitHub Actions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로 관리합니다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이렇게 각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레이어별로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 최적화된 기술을 선택하여 실시간성과 신뢰성을 모두 확보했습니다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61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자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여기서 잠깐 가볍게 가보겠습니다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!</a:t>
            </a:r>
          </a:p>
          <a:p>
            <a:pPr algn="l"/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"YOLO: You Only Look Once...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하지만 우리 관제 시스템은 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24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시간 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7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일 내내 </a:t>
            </a:r>
            <a:r>
              <a:rPr lang="ko-KR" altLang="en-US" b="1" i="0" dirty="0" err="1">
                <a:solidFill>
                  <a:srgbClr val="232425"/>
                </a:solidFill>
                <a:effectLst/>
                <a:latin typeface="Noto Sans SC"/>
              </a:rPr>
              <a:t>깨어있습니다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!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"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개발팀의 진심을 담아 말씀드리면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"TTC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2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초 미만이면 알람이 울리고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저희 카페인은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2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샷 이상이어야 안정감을 찾습니다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."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웃으면서도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안전이 최우선이라는 점을 잊지 않고 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!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38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현재 시스템을 더욱 발전시키기 위한 로드맵도 준비했습니다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성능 고도화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 측면에서는 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TensorRT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양자화로 처리 속도를 높이고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멀티카메라 캘리브레이션으로 정밀도를 향상시킬 예정입니다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강건성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 확보를 위해 야간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우천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역광 등 악천후 상황에 대응하는 도메인 적응 기술을 적용하고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대상 확장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으로 보행자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킥보드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자전거까지 인식 범위를 넓힐 계획입니다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또한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과실 분석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을 더욱 정교화하고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비식별화 처리와 접근 통제 등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보안 체계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를 강화하며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세종시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ITS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및 전국 관제 시스템과의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연동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도 추진할 예정입니다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986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다시 한 번 가볍게 가보겠습니다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!</a:t>
            </a:r>
          </a:p>
          <a:p>
            <a:pPr algn="l"/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"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우리 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AI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모델은 밤샘 근무를 하고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개발팀은 정시 퇴근을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...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꿈꿉니다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"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명언 패러디 하나 드리겠습니다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: "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사고는 준비된 시스템을 두려워한다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!"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기술은 사람을 돕기 위해 존재한다는 점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항상 기억하고 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49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본 프로젝트는 다양한 검증된 자료를 바탕으로 설계되었습니다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AI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모델은 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Ultralytics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 YOLOv11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과 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ByteTrack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논문을 참고했으며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OpenCV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공식 문서로 영상 처리를 구현했습니다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과실비율 산정은 자동차사고 과실비율 인정기준과 도로교통법을 따르고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개인정보 보호는 관련 법령과 영상정보처리기기 운영 가이드라인을 준수합니다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세종시 스마트시티 및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ITS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공개 자료도 중요한 참고 자료로 활용했습니다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407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이제 본격적으로 시장 현황을 살펴보겠습니다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전 세계적으로 도시 운영은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사후 대응에서 예측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·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예방 중심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으로 패러다임이 전환되고 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핵심 기술로는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AI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영상분석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, IoT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센서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, 5G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초저지연 통신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디지털 트윈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이 있으며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이들은 실시간 데이터를 분석해 위험을 예측하고 신호를 최적화하는 예방적 개입을 가능하게 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특히 교통과 공공안전 영역에서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AI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의 실효성이 빠르게 입증되고 있으며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각국 정부는 데이터 개방과 표준화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개인정보 보호 가이드라인 마련에 주력하고 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559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숫자로 보는 시장의 잠재력입니다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Grand View Research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에 따르면 글로벌 스마트시티 시장은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2024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년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8,776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억 달러에서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2030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년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3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조 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7,579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억 달러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로 성장하며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**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연평균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29.4%**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의 폭발적인 성장률을 보일 전망입니다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세부 시장을 보면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**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지능형 교통 시스템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(ITS)**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연평균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9.2%,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도로 안전 시장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13.1%,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공공 안전 분석 시장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무려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17.82%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의 고성장이 예상됩니다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특히 아시아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·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태평양 지역이 가장 빠른 성장세를 보이고 있어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우리 프로젝트의 시장성이 매우 높습니다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449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이미 성공한 도시들의 사례를 보겠습니다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헬싱키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'Vision Zero'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정책으로 디지털 솔루션과 인프라 개선을 결합해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놀랍게도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1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년간 교통사고 사망자가 단 한 명도 발생하지 않았습니다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  <a:endParaRPr lang="ko-KR" altLang="en-US" b="0" i="0" dirty="0">
              <a:solidFill>
                <a:srgbClr val="232425"/>
              </a:solidFill>
              <a:effectLst/>
              <a:latin typeface="Noto Sans SC"/>
            </a:endParaRP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피츠버그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AI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신호시스템 도입 후 교차로 대기시간을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40%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감소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시키고 배기가스를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21%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줄이는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 성과를 거뒀습니다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싱가포르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GLIDE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시스템으로 신호를 실시간 최적화하고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예측 기반 혼잡 관리로 효율성을 극대화했습니다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국내에서는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ETRI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의 도시교통 브레인이 대전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-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세종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200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개 교차로에 적용되어 통행시간을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15%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이상 단축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하는 실증 결과를 보였습니다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475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그렇다면 세종시의 현재 상황은 어떨까요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?</a:t>
            </a:r>
          </a:p>
          <a:p>
            <a:pPr algn="l"/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2018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년 한국교통연구원 설문조사에서 시민들은 도시 불편 사항 **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1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순위로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'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교통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'**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을 꼽았습니다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계획도시임에도 불구하고 말이죠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구체적으로 보면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교통사고는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매년 증가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하고 있으며 특히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'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차대차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 충돌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'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비중이 압도적으로 높습니다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출퇴근 시간대에 사고가 집중되고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소담동과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보람동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 같은 특정 지역에서 사고가 다발합니다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신호 체계도 문제인데요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한 구간에서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800</a:t>
            </a:r>
            <a:r>
              <a:rPr lang="ko-KR" altLang="en-US" b="1" i="0" dirty="0" err="1">
                <a:solidFill>
                  <a:srgbClr val="232425"/>
                </a:solidFill>
                <a:effectLst/>
                <a:latin typeface="Noto Sans SC"/>
              </a:rPr>
              <a:t>미터에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 신호등이 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5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개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나 설치되어 있어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보행자 안전과 차량 흐름 사이에서 균형을 찾기 어려운 상황입니다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이러한 문제들은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CCTV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AI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기반의 실시간 탐지 및 선제적 경보 시스템이 꼭 필요함을 보여줍니다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06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본 프로젝트가 창출할 구체적인 성과를 말씀드리겠습니다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먼저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연간 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500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억 원 이상의 사회적 비용 절감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 효과가 기대됩니다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스마트 운영으로 도시 운영비를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30%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이상 줄일 수 있고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AI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신호 최적화로 통행시간을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15%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이상 단축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할 수 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환경 측면에서는 대기시간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40%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감소와 함께 배기가스를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20%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이상 줄일 수 있으며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24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시간 자동 분석과 경보로 관제 생산성은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수십 배 향상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이러한 성과는 지자체 표준 모델로 확산되어 보험사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정책 기관과의 협력 생태계를 활성화할 것입니다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880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다시 한번 프로젝트의 핵심을 정리하겠습니다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배경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무신호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 교차로와 좌회전 구간에서의 시야 제한과 난폭 운전으로 인한 사고 빈발입니다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목표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CCTV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AI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로 차량의 서행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정지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위험행동을 실시간으로 인식하고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경보하는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 것이며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핵심 가치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는 사고 예방과 현장 대응 속도 향상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그리고 객관적 과실 판단 지원입니다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단순히 사고 후 대응이 아닌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사고를 미리 막는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예방적 안전 시스템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을 구축하는 것이 우리의 비전입니다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102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시스템 아키텍처를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설명드리겠습니다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전체 파이프라인은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CCTV 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스트림 입력 → 차량 탐지 → 다중 객체 추적 → 행동지표 계산 → 위험 등급 분류 → 대시보드 및 경보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의 흐름으로 구성됩니다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먼저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YOLOv11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로 차량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오토바이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버스 등을 실시간으로 탐지하고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en-US" altLang="ko-KR" b="1" i="0" dirty="0" err="1">
                <a:solidFill>
                  <a:srgbClr val="232425"/>
                </a:solidFill>
                <a:effectLst/>
                <a:latin typeface="Noto Sans SC"/>
              </a:rPr>
              <a:t>ByteTrack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으로 각 객체에 고유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ID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를 부여해 경로를 추적합니다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그 다음 </a:t>
            </a:r>
            <a:r>
              <a:rPr lang="en-US" altLang="ko-KR" b="1" i="0" dirty="0">
                <a:solidFill>
                  <a:srgbClr val="232425"/>
                </a:solidFill>
                <a:effectLst/>
                <a:latin typeface="Noto Sans SC"/>
              </a:rPr>
              <a:t>OpenCV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로 속도와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TTC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를 계산하여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정상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-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주의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-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위험의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3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단계로 위험도를 분류합니다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이 모든 정보는 관제 대시보드로 전송되어 실시간 모니터링과 즉각적인 대응이 가능합니다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91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좀 더 기술적으로 들어가보겠습니다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탐지 모듈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YOLO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백본과 헤드를 최적화하여 클래스별 정확도를 높였고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추적 모듈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ByteTrack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의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딥러닝과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 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IoU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기법으로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ID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안정성을 확보했습니다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행동분석 모듈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속도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감속률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TTC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를 기반으로 위험 스코어를 실시간으로 계산하며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과실비율 모듈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표준 기준표를 바탕으로 행동 유형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충돌 각도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우선권 위반 여부에 따라 가중치를 적용합니다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이렇게 각 모듈이 독립적으로 작동하면서도 유기적으로 연결되어 고성능 실시간 분석 파이프라인을 완성합니다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042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실제 코드 구현은 어떻게 되어 있을까요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?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입력 단계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에서는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cv2.VideoCapture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로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RTSP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형식의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CCTV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스트림을 받아옵니다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파이프라인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YOLO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로 프레임마다 차량을 탐지하고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ByteTrack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으로 추적 정보를 업데이트하며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각 차량의 궤적을 저장합니다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핵심인 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analyze_behavior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() 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함수는 픽셀 좌표를 실제 거리로 환산하여 속도와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TTC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를 계산하고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위험 상태를 분류합니다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시각화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OpenCV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로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바운딩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 박스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ID,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위험등급을 영상에 오버레이하고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Matplotlib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으로 속도와 위험도 그래프를 실시간으로 표시합니다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8467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실제 개발 과정에서 겪었던 문제들과 해결 방법을 말씀드리겠습니다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초기에는 화면 전체에서 객체를 탐지했지만</a:t>
            </a:r>
            <a:r>
              <a:rPr lang="en-US" altLang="ko-KR" dirty="0"/>
              <a:t>, </a:t>
            </a:r>
            <a:r>
              <a:rPr lang="ko-KR" altLang="en-US" dirty="0"/>
              <a:t>관심 영역이 아닌 곳의 차량까지 모두 검출되는 문제가 있었습니다</a:t>
            </a:r>
            <a:r>
              <a:rPr lang="en-US" altLang="ko-KR" dirty="0"/>
              <a:t>. Frame 270</a:t>
            </a:r>
            <a:r>
              <a:rPr lang="ko-KR" altLang="en-US" dirty="0"/>
              <a:t>에서 보시는 것처럼 </a:t>
            </a:r>
            <a:r>
              <a:rPr lang="en-US" altLang="ko-KR" dirty="0"/>
              <a:t>6</a:t>
            </a:r>
            <a:r>
              <a:rPr lang="ko-KR" altLang="en-US" dirty="0"/>
              <a:t>대의 차량이 추적되었죠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단계로 </a:t>
            </a:r>
            <a:r>
              <a:rPr lang="en-US" altLang="ko-KR" dirty="0"/>
              <a:t>ROI</a:t>
            </a:r>
            <a:r>
              <a:rPr lang="ko-KR" altLang="en-US" dirty="0"/>
              <a:t>를 적용했습니다</a:t>
            </a:r>
            <a:r>
              <a:rPr lang="en-US" altLang="ko-KR" dirty="0"/>
              <a:t>. </a:t>
            </a:r>
            <a:r>
              <a:rPr lang="ko-KR" altLang="en-US" dirty="0"/>
              <a:t>처음에는 </a:t>
            </a:r>
            <a:r>
              <a:rPr lang="en-US" altLang="ko-KR" dirty="0"/>
              <a:t>VIT Track</a:t>
            </a:r>
            <a:r>
              <a:rPr lang="ko-KR" altLang="en-US" dirty="0"/>
              <a:t>을 사용했는데</a:t>
            </a:r>
            <a:r>
              <a:rPr lang="en-US" altLang="ko-KR" dirty="0"/>
              <a:t>, </a:t>
            </a:r>
            <a:r>
              <a:rPr lang="ko-KR" altLang="en-US" dirty="0"/>
              <a:t>객체의 중심점이 </a:t>
            </a:r>
            <a:r>
              <a:rPr lang="en-US" altLang="ko-KR" dirty="0"/>
              <a:t>ROI </a:t>
            </a:r>
            <a:r>
              <a:rPr lang="ko-KR" altLang="en-US" dirty="0"/>
              <a:t>내부에 있어야만 검출되는 한계가 있었습니다</a:t>
            </a:r>
            <a:r>
              <a:rPr lang="en-US" altLang="ko-KR" dirty="0"/>
              <a:t>. </a:t>
            </a:r>
            <a:r>
              <a:rPr lang="ko-KR" altLang="en-US" dirty="0"/>
              <a:t>이를 보완하기 위해 </a:t>
            </a:r>
            <a:r>
              <a:rPr lang="en-US" altLang="ko-KR" dirty="0"/>
              <a:t>"ROI</a:t>
            </a:r>
            <a:r>
              <a:rPr lang="ko-KR" altLang="en-US" dirty="0"/>
              <a:t>와 </a:t>
            </a:r>
            <a:r>
              <a:rPr lang="ko-KR" altLang="en-US" dirty="0" err="1"/>
              <a:t>바운딩박스</a:t>
            </a:r>
            <a:r>
              <a:rPr lang="ko-KR" altLang="en-US" dirty="0"/>
              <a:t> 겹침 비율이 </a:t>
            </a:r>
            <a:r>
              <a:rPr lang="en-US" altLang="ko-KR" dirty="0"/>
              <a:t>0.5% </a:t>
            </a:r>
            <a:r>
              <a:rPr lang="ko-KR" altLang="en-US" dirty="0"/>
              <a:t>이상</a:t>
            </a:r>
            <a:r>
              <a:rPr lang="en-US" altLang="ko-KR" dirty="0"/>
              <a:t>"</a:t>
            </a:r>
            <a:r>
              <a:rPr lang="ko-KR" altLang="en-US" dirty="0"/>
              <a:t>이면 검출되도록 완화했습니다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 새로운 문제가 발생했습니다</a:t>
            </a:r>
            <a:r>
              <a:rPr lang="en-US" altLang="ko-KR" dirty="0"/>
              <a:t>. </a:t>
            </a:r>
            <a:r>
              <a:rPr lang="ko-KR" altLang="en-US" dirty="0"/>
              <a:t>겹침을 허용하니 반대 차선에서 오는 차량까지 검출되는 거죠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단계로 방향 인식을 도입했습니다</a:t>
            </a:r>
            <a:r>
              <a:rPr lang="en-US" altLang="ko-KR" dirty="0"/>
              <a:t>. ROI</a:t>
            </a:r>
            <a:r>
              <a:rPr lang="ko-KR" altLang="en-US" dirty="0"/>
              <a:t>별로 진행 방향 벡터를 설정하고</a:t>
            </a:r>
            <a:r>
              <a:rPr lang="en-US" altLang="ko-KR" dirty="0"/>
              <a:t>, </a:t>
            </a:r>
            <a:r>
              <a:rPr lang="ko-KR" altLang="en-US" dirty="0"/>
              <a:t>차량의 속도 벡터와 내적을 계산하여 역방향으로 움직이는 차량은 자동으로 배제했습니다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마지막으로 </a:t>
            </a:r>
            <a:r>
              <a:rPr lang="en-US" altLang="ko-KR" dirty="0"/>
              <a:t>3</a:t>
            </a:r>
            <a:r>
              <a:rPr lang="ko-KR" altLang="en-US" dirty="0"/>
              <a:t>단계에서 </a:t>
            </a:r>
            <a:r>
              <a:rPr lang="en-US" altLang="ko-KR" dirty="0" err="1"/>
              <a:t>BoT</a:t>
            </a:r>
            <a:r>
              <a:rPr lang="en-US" altLang="ko-KR" dirty="0"/>
              <a:t>-SORT</a:t>
            </a:r>
            <a:r>
              <a:rPr lang="ko-KR" altLang="en-US" dirty="0"/>
              <a:t>로 전환했습니다</a:t>
            </a:r>
            <a:r>
              <a:rPr lang="en-US" altLang="ko-KR" dirty="0"/>
              <a:t>. VIT Track</a:t>
            </a:r>
            <a:r>
              <a:rPr lang="ko-KR" altLang="en-US" dirty="0"/>
              <a:t>은 정확도가 낮아서 같은 차량이 검출됐다 안됐다 하는 문제가 있었거든요</a:t>
            </a:r>
            <a:r>
              <a:rPr lang="en-US" altLang="ko-KR" dirty="0"/>
              <a:t>. </a:t>
            </a:r>
            <a:r>
              <a:rPr lang="en-US" altLang="ko-KR" dirty="0" err="1"/>
              <a:t>BoT</a:t>
            </a:r>
            <a:r>
              <a:rPr lang="en-US" altLang="ko-KR" dirty="0"/>
              <a:t>-SORT</a:t>
            </a:r>
            <a:r>
              <a:rPr lang="ko-KR" altLang="en-US" dirty="0"/>
              <a:t>로 바꾸면서 </a:t>
            </a:r>
            <a:r>
              <a:rPr lang="en-US" altLang="ko-KR" dirty="0"/>
              <a:t>ID </a:t>
            </a:r>
            <a:r>
              <a:rPr lang="ko-KR" altLang="en-US" dirty="0"/>
              <a:t>안정성이 크게 향상되고</a:t>
            </a:r>
            <a:r>
              <a:rPr lang="en-US" altLang="ko-KR" dirty="0"/>
              <a:t>, </a:t>
            </a:r>
            <a:r>
              <a:rPr lang="ko-KR" altLang="en-US" dirty="0"/>
              <a:t>알림 </a:t>
            </a:r>
            <a:r>
              <a:rPr lang="ko-KR" altLang="en-US" dirty="0" err="1"/>
              <a:t>오탐도</a:t>
            </a:r>
            <a:r>
              <a:rPr lang="ko-KR" altLang="en-US" dirty="0"/>
              <a:t> 줄었습니다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우측 화면에서 보시는 것처럼</a:t>
            </a:r>
            <a:r>
              <a:rPr lang="en-US" altLang="ko-KR" dirty="0"/>
              <a:t>, </a:t>
            </a:r>
            <a:r>
              <a:rPr lang="ko-KR" altLang="en-US" dirty="0"/>
              <a:t>최종적으로 </a:t>
            </a:r>
            <a:r>
              <a:rPr lang="en-US" altLang="ko-KR" dirty="0"/>
              <a:t>Frame 604</a:t>
            </a:r>
            <a:r>
              <a:rPr lang="ko-KR" altLang="en-US" dirty="0"/>
              <a:t>에서는 방향과 </a:t>
            </a:r>
            <a:r>
              <a:rPr lang="en-US" altLang="ko-KR" dirty="0"/>
              <a:t>ROI </a:t>
            </a:r>
            <a:r>
              <a:rPr lang="ko-KR" altLang="en-US" dirty="0"/>
              <a:t>필터링이 모두 적용된 안정적인 추적 결과를 얻을 수 있었습니다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462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그렇다면 </a:t>
            </a:r>
            <a:r>
              <a:rPr lang="en-US" altLang="ko-KR" dirty="0" err="1"/>
              <a:t>BoT</a:t>
            </a:r>
            <a:r>
              <a:rPr lang="en-US" altLang="ko-KR" dirty="0"/>
              <a:t>-SORT</a:t>
            </a:r>
            <a:r>
              <a:rPr lang="ko-KR" altLang="en-US" dirty="0"/>
              <a:t>가 무엇이고</a:t>
            </a:r>
            <a:r>
              <a:rPr lang="en-US" altLang="ko-KR" dirty="0"/>
              <a:t>, </a:t>
            </a:r>
            <a:r>
              <a:rPr lang="ko-KR" altLang="en-US" dirty="0"/>
              <a:t>왜 교체했을까요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 err="1"/>
              <a:t>BoT</a:t>
            </a:r>
            <a:r>
              <a:rPr lang="en-US" altLang="ko-KR" dirty="0"/>
              <a:t>-SORT</a:t>
            </a:r>
            <a:r>
              <a:rPr lang="ko-KR" altLang="en-US" dirty="0"/>
              <a:t>는 </a:t>
            </a:r>
            <a:r>
              <a:rPr lang="en-US" altLang="ko-KR" dirty="0"/>
              <a:t>SORT</a:t>
            </a:r>
            <a:r>
              <a:rPr lang="ko-KR" altLang="en-US" dirty="0"/>
              <a:t>의 칼만 필터에 강력한 </a:t>
            </a:r>
            <a:r>
              <a:rPr lang="en-US" altLang="ko-KR" dirty="0" err="1"/>
              <a:t>ReID</a:t>
            </a:r>
            <a:r>
              <a:rPr lang="en-US" altLang="ko-KR" dirty="0"/>
              <a:t> </a:t>
            </a:r>
            <a:r>
              <a:rPr lang="ko-KR" altLang="en-US" dirty="0"/>
              <a:t>외관 특징과 글로벌 모션 보상을 결합한 추적 알고리즘입니다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화면 상단의 다이어그램을 보시면</a:t>
            </a:r>
            <a:r>
              <a:rPr lang="en-US" altLang="ko-KR" dirty="0"/>
              <a:t>, </a:t>
            </a:r>
            <a:r>
              <a:rPr lang="ko-KR" altLang="en-US" dirty="0"/>
              <a:t>칼만 필터로 상태를 예측하고</a:t>
            </a:r>
            <a:r>
              <a:rPr lang="en-US" altLang="ko-KR" dirty="0"/>
              <a:t>, </a:t>
            </a:r>
            <a:r>
              <a:rPr lang="en-US" altLang="ko-KR" dirty="0" err="1"/>
              <a:t>ReID</a:t>
            </a:r>
            <a:r>
              <a:rPr lang="ko-KR" altLang="en-US" dirty="0"/>
              <a:t>로 외관 특징을 분석하며</a:t>
            </a:r>
            <a:r>
              <a:rPr lang="en-US" altLang="ko-KR" dirty="0"/>
              <a:t>, GMC</a:t>
            </a:r>
            <a:r>
              <a:rPr lang="ko-KR" altLang="en-US" dirty="0"/>
              <a:t>로 카메라 모션을 보정하여</a:t>
            </a:r>
            <a:r>
              <a:rPr lang="en-US" altLang="ko-KR" dirty="0"/>
              <a:t>, </a:t>
            </a:r>
            <a:r>
              <a:rPr lang="ko-KR" altLang="en-US" dirty="0"/>
              <a:t>최종적으로 강건한 추적 성능을 내는 구조입니다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핵심 구성을 보면</a:t>
            </a:r>
            <a:r>
              <a:rPr lang="en-US" altLang="ko-KR" dirty="0"/>
              <a:t>, </a:t>
            </a:r>
            <a:r>
              <a:rPr lang="ko-KR" altLang="en-US" dirty="0"/>
              <a:t>칼만 필터가 프레임 간 연속성을 확보하고</a:t>
            </a:r>
            <a:r>
              <a:rPr lang="en-US" altLang="ko-KR" dirty="0"/>
              <a:t>, </a:t>
            </a:r>
            <a:r>
              <a:rPr lang="en-US" altLang="ko-KR" dirty="0" err="1"/>
              <a:t>IoU</a:t>
            </a:r>
            <a:r>
              <a:rPr lang="ko-KR" altLang="en-US" dirty="0"/>
              <a:t>와 </a:t>
            </a:r>
            <a:r>
              <a:rPr lang="en-US" altLang="ko-KR" dirty="0" err="1"/>
              <a:t>ReID</a:t>
            </a:r>
            <a:r>
              <a:rPr lang="ko-KR" altLang="en-US" dirty="0"/>
              <a:t>를 결합한 매칭 </a:t>
            </a:r>
            <a:r>
              <a:rPr lang="ko-KR" altLang="en-US" dirty="0" err="1"/>
              <a:t>캐스케이드로</a:t>
            </a:r>
            <a:r>
              <a:rPr lang="ko-KR" altLang="en-US" dirty="0"/>
              <a:t> 정확한 데이터 연관을 수행합니다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GMC</a:t>
            </a:r>
            <a:r>
              <a:rPr lang="ko-KR" altLang="en-US" dirty="0"/>
              <a:t>는 </a:t>
            </a:r>
            <a:r>
              <a:rPr lang="en-US" altLang="ko-KR" dirty="0"/>
              <a:t>CCTV</a:t>
            </a:r>
            <a:r>
              <a:rPr lang="ko-KR" altLang="en-US" dirty="0"/>
              <a:t>의 미세한 진동이나 </a:t>
            </a:r>
            <a:r>
              <a:rPr lang="ko-KR" altLang="en-US" dirty="0" err="1"/>
              <a:t>흔들림까지</a:t>
            </a:r>
            <a:r>
              <a:rPr lang="ko-KR" altLang="en-US" dirty="0"/>
              <a:t> 보정해줍니다</a:t>
            </a:r>
            <a:r>
              <a:rPr lang="en-US" altLang="ko-KR" dirty="0"/>
              <a:t>. </a:t>
            </a:r>
            <a:r>
              <a:rPr lang="ko-KR" altLang="en-US" dirty="0"/>
              <a:t>그리고 일시적으로 가려졌던 차량이 다시 나타나도 동일한 </a:t>
            </a:r>
            <a:r>
              <a:rPr lang="en-US" altLang="ko-KR" dirty="0"/>
              <a:t>ID</a:t>
            </a:r>
            <a:r>
              <a:rPr lang="ko-KR" altLang="en-US" dirty="0"/>
              <a:t>를 유지해줍니다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현장에서 체감하는 장점은 명확합니다</a:t>
            </a:r>
            <a:r>
              <a:rPr lang="en-US" altLang="ko-KR" dirty="0"/>
              <a:t>. </a:t>
            </a:r>
            <a:r>
              <a:rPr lang="ko-KR" altLang="en-US" dirty="0"/>
              <a:t>혼잡하거나 가림이 있어도 </a:t>
            </a:r>
            <a:r>
              <a:rPr lang="en-US" altLang="ko-KR" dirty="0"/>
              <a:t>ID </a:t>
            </a:r>
            <a:r>
              <a:rPr lang="ko-KR" altLang="en-US" dirty="0"/>
              <a:t>스위치가 줄어들고</a:t>
            </a:r>
            <a:r>
              <a:rPr lang="en-US" altLang="ko-KR" dirty="0"/>
              <a:t>, </a:t>
            </a:r>
            <a:r>
              <a:rPr lang="ko-KR" altLang="en-US" dirty="0"/>
              <a:t>짧은 </a:t>
            </a:r>
            <a:r>
              <a:rPr lang="ko-KR" altLang="en-US" dirty="0" err="1"/>
              <a:t>미검출</a:t>
            </a:r>
            <a:r>
              <a:rPr lang="ko-KR" altLang="en-US" dirty="0"/>
              <a:t> 구간 후에도 재할당 성공률이 높습니다</a:t>
            </a:r>
            <a:r>
              <a:rPr lang="en-US" altLang="ko-KR" dirty="0"/>
              <a:t>. </a:t>
            </a:r>
            <a:r>
              <a:rPr lang="ko-KR" altLang="en-US" dirty="0"/>
              <a:t>게다가 경량 </a:t>
            </a:r>
            <a:r>
              <a:rPr lang="en-US" altLang="ko-KR" dirty="0" err="1"/>
              <a:t>ReID</a:t>
            </a:r>
            <a:r>
              <a:rPr lang="ko-KR" altLang="en-US" dirty="0"/>
              <a:t>를 쓰면 </a:t>
            </a:r>
            <a:r>
              <a:rPr lang="en-US" altLang="ko-KR" dirty="0"/>
              <a:t>GPU </a:t>
            </a:r>
            <a:r>
              <a:rPr lang="ko-KR" altLang="en-US" dirty="0"/>
              <a:t>한 장으로도 실시간 처리가 가능합니다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ByteTrack</a:t>
            </a:r>
            <a:r>
              <a:rPr lang="ko-KR" altLang="en-US" dirty="0"/>
              <a:t>과 비교하면</a:t>
            </a:r>
            <a:r>
              <a:rPr lang="en-US" altLang="ko-KR" dirty="0"/>
              <a:t>, </a:t>
            </a:r>
            <a:r>
              <a:rPr lang="en-US" altLang="ko-KR" dirty="0" err="1"/>
              <a:t>ByteTrack</a:t>
            </a:r>
            <a:r>
              <a:rPr lang="ko-KR" altLang="en-US" dirty="0"/>
              <a:t>은 낮은 신뢰도 검출까지 </a:t>
            </a:r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ko-KR" altLang="en-US" dirty="0" err="1"/>
              <a:t>매칭으로</a:t>
            </a:r>
            <a:r>
              <a:rPr lang="ko-KR" altLang="en-US" dirty="0"/>
              <a:t> 리콜을 높이는 데 집중했다면</a:t>
            </a:r>
            <a:r>
              <a:rPr lang="en-US" altLang="ko-KR" dirty="0"/>
              <a:t>, </a:t>
            </a:r>
            <a:r>
              <a:rPr lang="en-US" altLang="ko-KR" dirty="0" err="1"/>
              <a:t>BoT</a:t>
            </a:r>
            <a:r>
              <a:rPr lang="en-US" altLang="ko-KR" dirty="0"/>
              <a:t>-SORT</a:t>
            </a:r>
            <a:r>
              <a:rPr lang="ko-KR" altLang="en-US" dirty="0"/>
              <a:t>는 여기에 외관 특징과 카메라 모션 보정을 더해 </a:t>
            </a:r>
            <a:r>
              <a:rPr lang="en-US" altLang="ko-KR" dirty="0"/>
              <a:t>ID </a:t>
            </a:r>
            <a:r>
              <a:rPr lang="ko-KR" altLang="en-US" dirty="0"/>
              <a:t>안정성과 가림 복원에 더 강합니다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Ultralytics</a:t>
            </a:r>
            <a:r>
              <a:rPr lang="ko-KR" altLang="en-US" dirty="0"/>
              <a:t>에 통합하는 방법도 간단합니다</a:t>
            </a:r>
            <a:r>
              <a:rPr lang="en-US" altLang="ko-KR" dirty="0"/>
              <a:t>. tracker=</a:t>
            </a:r>
            <a:r>
              <a:rPr lang="en-US" altLang="ko-KR" dirty="0" err="1"/>
              <a:t>botsort.yaml</a:t>
            </a:r>
            <a:r>
              <a:rPr lang="en-US" altLang="ko-KR" dirty="0"/>
              <a:t>, </a:t>
            </a:r>
            <a:r>
              <a:rPr lang="en-US" altLang="ko-KR" dirty="0" err="1"/>
              <a:t>with_reid</a:t>
            </a:r>
            <a:r>
              <a:rPr lang="en-US" altLang="ko-KR" dirty="0"/>
              <a:t>=True, </a:t>
            </a:r>
            <a:r>
              <a:rPr lang="en-US" altLang="ko-KR" dirty="0" err="1"/>
              <a:t>gmc</a:t>
            </a:r>
            <a:r>
              <a:rPr lang="en-US" altLang="ko-KR" dirty="0"/>
              <a:t>=orb </a:t>
            </a:r>
            <a:r>
              <a:rPr lang="ko-KR" altLang="en-US" dirty="0"/>
              <a:t>같은 파라미터로 설정할 수 있고</a:t>
            </a:r>
            <a:r>
              <a:rPr lang="en-US" altLang="ko-KR" dirty="0"/>
              <a:t>, </a:t>
            </a:r>
            <a:r>
              <a:rPr lang="ko-KR" altLang="en-US" dirty="0"/>
              <a:t>교통 </a:t>
            </a:r>
            <a:r>
              <a:rPr lang="en-US" altLang="ko-KR" dirty="0"/>
              <a:t>CCTV</a:t>
            </a:r>
            <a:r>
              <a:rPr lang="ko-KR" altLang="en-US" dirty="0"/>
              <a:t>에는 </a:t>
            </a:r>
            <a:r>
              <a:rPr lang="en-US" altLang="ko-KR" dirty="0"/>
              <a:t>confidence 0.35~0.5, </a:t>
            </a:r>
            <a:r>
              <a:rPr lang="en-US" altLang="ko-KR" dirty="0" err="1"/>
              <a:t>IoU</a:t>
            </a:r>
            <a:r>
              <a:rPr lang="en-US" altLang="ko-KR" dirty="0"/>
              <a:t> 0.3~0.5 </a:t>
            </a:r>
            <a:r>
              <a:rPr lang="ko-KR" altLang="en-US" dirty="0"/>
              <a:t>정도가 권장됩니다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결국 </a:t>
            </a:r>
            <a:r>
              <a:rPr lang="en-US" altLang="ko-KR" dirty="0"/>
              <a:t>VIT Track</a:t>
            </a:r>
            <a:r>
              <a:rPr lang="ko-KR" altLang="en-US" dirty="0"/>
              <a:t>의 낮은 정확도와 중심점 의존 문제를 </a:t>
            </a:r>
            <a:r>
              <a:rPr lang="en-US" altLang="ko-KR" dirty="0" err="1"/>
              <a:t>BoT</a:t>
            </a:r>
            <a:r>
              <a:rPr lang="en-US" altLang="ko-KR" dirty="0"/>
              <a:t>-SORT</a:t>
            </a:r>
            <a:r>
              <a:rPr lang="ko-KR" altLang="en-US" dirty="0"/>
              <a:t>가 완벽하게 보완해준 셈입니다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549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비즈니스 관점에서 프로젝트를 정리하겠습니다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핵심활동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CCTV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실시간 분석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YOLO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탐지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ByteTrack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추적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대시보드 운영이며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핵심파트너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는 세종시청 교통정보과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스마트시티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추진단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도로교통공단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연구기관입니다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핵심자원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CCTV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영상 데이터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AI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서버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en-US" altLang="ko-KR" b="0" i="0" dirty="0" err="1">
                <a:solidFill>
                  <a:srgbClr val="232425"/>
                </a:solidFill>
                <a:effectLst/>
                <a:latin typeface="Noto Sans SC"/>
              </a:rPr>
              <a:t>YOLO·OpenCV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기술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그리고 전문 연구 인력이고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핵심가치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는 사고 예방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실시간 경보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공정한 과실 분석입니다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고객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시민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지자체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보험사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연구기관이며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채널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은 스마트시티 대시보드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시민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알림앱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공공데이터 포털입니다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이렇게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6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개 요소가 유기적으로 결합되어 지속가능한 비즈니스 모델을 구성합니다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9556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프로젝트의 종합적인 효과를 말씀드립니다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첫째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사고 예방 및 감소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위험행동을 사전에 탐지하고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경보함으로써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 충돌 확률을 크게 낮출 수 있습니다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둘째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행정 효율성 향상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관제를 자동화하고 증거 데이터를 축적하며 보고를 자동생성하여 인력과 시간을 절약합니다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셋째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데이터 기반 정책 수립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시간대별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구간별 위험 지표를 분석해 교통 정책의 과학적 근거를 마련합니다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넷째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 </a:t>
            </a:r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시스템 연동성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세종시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ITS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및 관제 시스템과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API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로 연계되어 확장 가능한 스마트시티 인프라를 구축합니다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6702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마지막으로 향후 계획과 결론입니다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파일럿 테스트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는 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2~3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개 </a:t>
            </a:r>
            <a:r>
              <a:rPr lang="ko-KR" altLang="en-US" b="0" i="0" dirty="0" err="1">
                <a:solidFill>
                  <a:srgbClr val="232425"/>
                </a:solidFill>
                <a:effectLst/>
                <a:latin typeface="Noto Sans SC"/>
              </a:rPr>
              <a:t>무신호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 교차로에서 시작하여 정확도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지연시간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경보 적중률 등 정량 지표를 검증할 예정입니다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확장 단계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에서는 차종을 세분화하고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보행자와 이륜차까지 포함하며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야간과 악천후에 강건한 시스템으로 발전시킵니다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에지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-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클라우드 하이브리드 구조로 확장성도 확보합니다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관련 법률을 조사하여 추가적인 모델 개발을 진행합니다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1" i="0" dirty="0">
                <a:solidFill>
                  <a:srgbClr val="232425"/>
                </a:solidFill>
                <a:effectLst/>
                <a:latin typeface="Noto Sans SC"/>
              </a:rPr>
              <a:t>장기 성과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로는 교통사고율 감소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보험사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·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정책 기관과의 협력 모델 구축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그리고 전국 확산 로드맵 실현을 목표로 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세종시에서 시작된 이 프로젝트가 대한민국 스마트시티의 표준 모델이 되어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더 안전하고 지능적인 도시를 만드는 데 기여할 것입니다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232425"/>
                </a:solidFill>
                <a:effectLst/>
                <a:latin typeface="Noto Sans SC"/>
              </a:rPr>
              <a:t>경청해 주셔서 감사합니다</a:t>
            </a:r>
            <a:r>
              <a:rPr lang="en-US" altLang="ko-KR" b="0" i="0" dirty="0">
                <a:solidFill>
                  <a:srgbClr val="232425"/>
                </a:solidFill>
                <a:effectLst/>
                <a:latin typeface="Noto Sans SC"/>
              </a:rPr>
              <a:t>!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85B8-F2C4-4EA5-A8B1-7EFD69AD30C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552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B409F-653C-4E30-8C73-F921B9A75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A8C3B9-7FE5-4864-8EB3-0C3DBF749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4FB2F6-53B3-4BE0-8CA8-C53580A9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1398-1FE7-4069-81AB-CE04A14DA104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7EE6F7-D5A8-4BFF-AB4E-3133576A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C3E9D2-4565-4D07-8A4A-DD65E49D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3B9FC-1BCE-4F97-9D3F-E108CED8A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51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4CCE2-26A4-4619-81C6-23DEF366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8E7F44-F0B3-43FB-BB65-8257855C4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E8837A-14DC-4DE4-AA43-7CF9C32F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1398-1FE7-4069-81AB-CE04A14DA104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F8E648-0D2B-44BA-ADE6-8DBCAA82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1717F9-A786-4392-AC49-88C56F52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3B9FC-1BCE-4F97-9D3F-E108CED8A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44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396F5-FC2A-4F92-960F-DEC5C90F8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9BA8AE-C291-4E5A-8946-0DF5712EB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0E1DDC-C08F-4039-9870-8DD40704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1398-1FE7-4069-81AB-CE04A14DA104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0092A4-0985-4795-A36F-7E1F8032F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697C6-F668-4693-B1AE-F04FF683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3B9FC-1BCE-4F97-9D3F-E108CED8A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332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B1B25-0C44-47EB-8ED8-717DC663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A23257-5D30-486C-97CA-E10CA2223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E7FEFF-2D6B-4CA8-B83A-53B8E8329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B652D8-8F27-4FC7-9572-EDBBD48D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1398-1FE7-4069-81AB-CE04A14DA104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916861-7435-4959-AC41-ED0E78CA5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5135FD-D9A1-45F7-B576-0E93DE69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3B9FC-1BCE-4F97-9D3F-E108CED8A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954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D6774-BB26-46E8-B570-B8EF573B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FB7712-C7EC-4A0D-B2DE-AE1C36F17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676D63-70D5-4B31-8FD3-973C36326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64C0BB6-2167-4D66-AEE2-F67A6F8D1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3C241-4AEF-4938-8002-9993D7463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1F29BC-D280-45F6-86FE-0DE7A758C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1398-1FE7-4069-81AB-CE04A14DA104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50414B-44D0-4C10-B2AC-6E02BDAA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905BDF-74F6-4C13-8D9F-E6209358F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3B9FC-1BCE-4F97-9D3F-E108CED8A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39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664A4-1903-49D5-9695-1D53926C5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CC6B67-0A4D-4176-AE03-E6D049958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1398-1FE7-4069-81AB-CE04A14DA104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1C9D3F-8B6C-4CD9-9AD5-2FCE199D5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71AA77-CE8D-4CF2-B094-35D29F3E5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3B9FC-1BCE-4F97-9D3F-E108CED8A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308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1A5A86-5104-43B2-B20C-A217240E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1398-1FE7-4069-81AB-CE04A14DA104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A2F3CD-0A56-4F67-A073-11C978F1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29AC64-37C9-4D16-A56A-53451C8B6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3B9FC-1BCE-4F97-9D3F-E108CED8A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705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F6D20-4F48-49D5-8281-1D0481EE8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5CBBF-031D-4AA6-AC88-E654AF301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8B07CB-D331-47A2-BFA9-A2EE6F47E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0079A8-0ED7-48CA-9D51-8BBBE0BC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1398-1FE7-4069-81AB-CE04A14DA104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3B4D28-6271-469B-90F4-BB6578C4A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925D09-31AF-43B6-A692-E25538F7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3B9FC-1BCE-4F97-9D3F-E108CED8A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471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D0D55-9B1B-4FAF-98AC-26B499C7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99E226-E12C-4EAF-BB99-C7AE3997E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09C360-37FD-41DA-BC19-F91306B54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B52670-FDCE-4005-ACDC-B61CD3BA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1398-1FE7-4069-81AB-CE04A14DA104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942260-A6E6-4912-BF19-D91382B1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E8BCE1-1818-4636-BB8D-1FA8ED88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3B9FC-1BCE-4F97-9D3F-E108CED8A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43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DCBC78-9963-4DDB-9166-201C6FC5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142BDA-9F22-4884-9E5F-93E46A90D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0CA1A5-009C-43F9-B8EE-C2A81381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1398-1FE7-4069-81AB-CE04A14DA104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D1D28-EF34-4B48-A83B-4CE79827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4DDB3F-C979-4BF3-8CDF-DDF2F2DF7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3B9FC-1BCE-4F97-9D3F-E108CED8A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880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1DFA80-FC22-481C-A307-C02540803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D55092-A5EE-488F-85B4-6E4317FBB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9C7E8D-16D0-44B2-A2B8-1A2255187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1398-1FE7-4069-81AB-CE04A14DA104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D15FA8-38A9-43EC-9AC2-6062F794A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A303C1-231E-4C43-A788-4FF43833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3B9FC-1BCE-4F97-9D3F-E108CED8A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344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20F675-9BFD-4933-A356-1880928E3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72BEA0-72E0-4538-9EB6-4EE8D8E63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994A98-A314-4CBF-A294-69A31D664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31398-1FE7-4069-81AB-CE04A14DA104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45D905-FDE9-4F4B-ABBE-16960E84A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C730C1-10A5-4F31-9BF6-D68E44838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3B9FC-1BCE-4F97-9D3F-E108CED8A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26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6DF90A8-3280-4B2C-9ECE-E180438EB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6D9ED80-ABFC-4AC7-8D0A-8081BB8D3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484" y="330012"/>
            <a:ext cx="2728196" cy="165368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B29D7EF-66CB-419A-B0FD-ED424F2069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36" y="330012"/>
            <a:ext cx="2728196" cy="151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45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8F906C9-104C-42CD-A855-63948CCA2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01" y="1342294"/>
            <a:ext cx="9434378" cy="52963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6CACC4C-E464-4466-B6A1-CA0E2D906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253" y="924212"/>
            <a:ext cx="7437765" cy="38255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3DC3A82-A2BE-4237-9B59-BBF8408A5C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3934"/>
          <a:stretch/>
        </p:blipFill>
        <p:spPr>
          <a:xfrm>
            <a:off x="0" y="0"/>
            <a:ext cx="9482743" cy="210821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86141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1543F1D-96B9-4C12-87E4-D9685E31B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30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ECC41DA-7F12-40C3-BEB2-CB37C4EFA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324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AC3D55-DF89-490B-9CB8-3FF3EA09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0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200CAF0-BAC6-47D6-8A22-DBA49E0CC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54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3A73665-EA0C-4737-BE62-2150DD66C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2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27A5C40-00C6-4B22-8F3B-08917DBD5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28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A0A7905-5011-43C1-9E69-5E402BB85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66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E0326F1-0294-4139-B964-3739632B4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114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3F537D8-3714-44A4-A613-E749022AB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55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DE2FD07-3F1E-4BEC-87E1-E03D53EFD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85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1A59D75-2AC8-4814-9652-777028772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34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54C9902-A867-4C04-A186-26ACF82F4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05F258A-1E96-4350-A0B1-A5F3E8A84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74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8AB7A5C-A5EA-46CA-8173-8B1B1227E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840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E80C8AC-AAA9-4466-AB63-84E3A2B32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49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D173765-EF10-4BC6-BD83-A3125719E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25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AA0DCA3-E398-4019-BCEF-E78884D9B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56" y="963716"/>
            <a:ext cx="7483488" cy="49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463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0C44518-8A6D-48EE-923B-81A82723F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152" y="1329508"/>
            <a:ext cx="7559695" cy="419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92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F79A496-C970-43EE-AB1A-134D3A4ED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39" y="1161853"/>
            <a:ext cx="7643522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22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B710F17-E484-413C-9FBD-179FAF137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290" y="2228746"/>
            <a:ext cx="7605419" cy="24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74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BD411-54EB-445B-A547-9A97B365D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295836-9C01-4F85-A5A7-A2735B279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5D0EC9-7CB0-4408-AFC7-4B6AFB440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10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FC100B8-B0A5-4DD1-A86B-78B67CCF1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54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C253DAD-BFF6-40AD-B892-E96C1B750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22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0AD49E0-FA7E-4E17-A9E5-F0F219082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68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54C8A1C-B375-4D28-B9AF-325F86AC0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88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1885</Words>
  <Application>Microsoft Office PowerPoint</Application>
  <PresentationFormat>와이드스크린</PresentationFormat>
  <Paragraphs>136</Paragraphs>
  <Slides>27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Noto Sans SC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</cp:revision>
  <dcterms:created xsi:type="dcterms:W3CDTF">2025-10-30T06:01:23Z</dcterms:created>
  <dcterms:modified xsi:type="dcterms:W3CDTF">2025-10-31T07:45:59Z</dcterms:modified>
</cp:coreProperties>
</file>